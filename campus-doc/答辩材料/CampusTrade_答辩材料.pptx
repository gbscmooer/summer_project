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77240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1D222B"/>
                </a:solidFill>
                <a:latin typeface="PingFang SC"/>
              </a:rPr>
              <a:t>CampusTrade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17320"/>
            <a:ext cx="6217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2663A8"/>
                </a:solidFill>
                <a:latin typeface="PingFang SC"/>
              </a:rPr>
              <a:t>校园二手交易平台答辩材料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8961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606977"/>
                </a:solidFill>
                <a:latin typeface="PingFang SC"/>
              </a:rPr>
              <a:t>微服务架构 / 真实接口联调 / Redis + ES + RabbitMQ / 秒杀削峰 / 可验证交付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889504"/>
            <a:ext cx="1554480" cy="58521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8881"/>
                </a:solidFill>
                <a:latin typeface="PingFang SC"/>
              </a:rPr>
              <a:t>注册登录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3044952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2889504"/>
            <a:ext cx="1554480" cy="58521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663A8"/>
                </a:solidFill>
                <a:latin typeface="PingFang SC"/>
              </a:rPr>
              <a:t>发布商品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5655" y="3044952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2889504"/>
            <a:ext cx="1554480" cy="58521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6F5BA5"/>
                </a:solidFill>
                <a:latin typeface="PingFang SC"/>
              </a:rPr>
              <a:t>搜索详情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1304" y="3044952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2889504"/>
            <a:ext cx="1554480" cy="58521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C2702A"/>
                </a:solidFill>
                <a:latin typeface="PingFang SC"/>
              </a:rPr>
              <a:t>下单通知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044952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889504"/>
            <a:ext cx="1554480" cy="58521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B24D46"/>
                </a:solidFill>
                <a:latin typeface="PingFang SC"/>
              </a:rPr>
              <a:t>秒杀排队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87952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答辩口径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" y="4645152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572000"/>
            <a:ext cx="5852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D222B"/>
                </a:solidFill>
                <a:latin typeface="PingFang SC"/>
              </a:rPr>
              <a:t>不讲概念堆叠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828032"/>
            <a:ext cx="5852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06977"/>
                </a:solidFill>
                <a:latin typeface="PingFang SC"/>
              </a:rPr>
              <a:t>每个技术点都对应一个项目里的具体链路。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" y="5349240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5276088"/>
            <a:ext cx="5852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D222B"/>
                </a:solidFill>
                <a:latin typeface="PingFang SC"/>
              </a:rPr>
              <a:t>不回避取舍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532120"/>
            <a:ext cx="5852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06977"/>
                </a:solidFill>
                <a:latin typeface="PingFang SC"/>
              </a:rPr>
              <a:t>会说明为什么这样拆服务、为什么要补偿、还有哪些风险。</a:t>
            </a:r>
          </a:p>
        </p:txBody>
      </p:sp>
      <p:sp>
        <p:nvSpPr>
          <p:cNvPr id="23" name="Oval 22"/>
          <p:cNvSpPr/>
          <p:nvPr/>
        </p:nvSpPr>
        <p:spPr>
          <a:xfrm>
            <a:off x="786384" y="6053327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980175"/>
            <a:ext cx="5852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D222B"/>
                </a:solidFill>
                <a:latin typeface="PingFang SC"/>
              </a:rPr>
              <a:t>不靠默认数据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6236207"/>
            <a:ext cx="5852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06977"/>
                </a:solidFill>
                <a:latin typeface="PingFang SC"/>
              </a:rPr>
              <a:t>演示从页面真实创建数据，初始化脚本只建表。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236208"/>
            <a:ext cx="10972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06977"/>
                </a:solidFill>
                <a:latin typeface="PingFang SC"/>
              </a:rPr>
              <a:t>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结论：系统可以按真实链路验收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不是只完成页面和 CRUD，而是把接口、鉴权、缓存、消息、部署和测试串成闭环。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1F8881"/>
                </a:solidFill>
                <a:latin typeface="PingFang S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55648"/>
            <a:ext cx="2423160" cy="111556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1F8881"/>
                </a:solidFill>
                <a:latin typeface="PingFang SC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2057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核心模块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gateway / user / product / order / web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755648"/>
            <a:ext cx="2423160" cy="111556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90195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1F8881"/>
                </a:solidFill>
                <a:latin typeface="PingFang S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240280"/>
            <a:ext cx="2057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中间件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487168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Nacos、Redis、ES、RabbitMQ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55648"/>
            <a:ext cx="2423160" cy="111556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90195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F8881"/>
                </a:solidFill>
                <a:latin typeface="PingFang SC"/>
              </a:rPr>
              <a:t>GET+POST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240280"/>
            <a:ext cx="2057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接口约束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487168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外部接口和前端 API 层统一遵守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1" y="1755648"/>
            <a:ext cx="2423160" cy="111556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3" y="190195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1F8881"/>
                </a:solidFill>
                <a:latin typeface="PingFang SC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1" y="2240280"/>
            <a:ext cx="2057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默认种子数据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1" y="2487168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init.sql 只建表，演示数据单独 seed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456432"/>
            <a:ext cx="5120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D222B"/>
                </a:solidFill>
                <a:latin typeface="PingFang SC"/>
              </a:rPr>
              <a:t>我这次答辩会重点证明三件事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913632"/>
            <a:ext cx="3337560" cy="126187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078224"/>
            <a:ext cx="384048" cy="384048"/>
          </a:xfrm>
          <a:prstGeom prst="ellipse">
            <a:avLst/>
          </a:prstGeom>
          <a:solidFill>
            <a:srgbClr val="1F8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3308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087368"/>
            <a:ext cx="247802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链路是真实的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4535424"/>
            <a:ext cx="2898648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注册、登录、发布、搜索、下单、通知都走后端真实接口，不在前端伪造响应。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4" y="3913632"/>
            <a:ext cx="3337560" cy="126187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08576" y="4078224"/>
            <a:ext cx="384048" cy="384048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576" y="413308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4087368"/>
            <a:ext cx="247802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故障有兜底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535424"/>
            <a:ext cx="2898648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Redis、ES、MQ、Feign 出问题时，核心链路尽量保持可恢复或可观测。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913632"/>
            <a:ext cx="3337560" cy="126187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02752" y="4078224"/>
            <a:ext cx="384048" cy="384048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13308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4087368"/>
            <a:ext cx="247802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交付可复验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4535424"/>
            <a:ext cx="2898648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mvn test、npm test、npm run build 和方法契约测试都能直接跑。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79729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讲述建议：这里不要展开技术细节，只用 30 秒把评审注意力带到“真实链路 + 可验证”。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演示主线：从一个新用户开始，不依赖预置数据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这页用于给老师对齐演示顺序，避免后面切页面时显得散。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2663A8"/>
                </a:solidFill>
                <a:latin typeface="PingFang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417320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8881"/>
                </a:solidFill>
                <a:latin typeface="PingFang SC"/>
              </a:rPr>
              <a:t>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75104"/>
            <a:ext cx="2011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1828800"/>
            <a:ext cx="1417320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8881"/>
                </a:solidFill>
                <a:latin typeface="PingFang SC"/>
              </a:rPr>
              <a:t>登录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1975104"/>
            <a:ext cx="2011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1828800"/>
            <a:ext cx="1417320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2663A8"/>
                </a:solidFill>
                <a:latin typeface="PingFang SC"/>
              </a:rPr>
              <a:t>发布商品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4416" y="1975104"/>
            <a:ext cx="2011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61304" y="1828800"/>
            <a:ext cx="1417320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6F5BA5"/>
                </a:solidFill>
                <a:latin typeface="PingFang SC"/>
              </a:rPr>
              <a:t>搜索/筛选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35808"/>
            <a:ext cx="1417320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6F5BA5"/>
                </a:solidFill>
                <a:latin typeface="PingFang SC"/>
              </a:rPr>
              <a:t>进入详情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82112"/>
            <a:ext cx="2011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1448" y="3035808"/>
            <a:ext cx="1417320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C2702A"/>
                </a:solidFill>
                <a:latin typeface="PingFang SC"/>
              </a:rPr>
              <a:t>下单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7" y="3182112"/>
            <a:ext cx="2011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1376" y="3035808"/>
            <a:ext cx="1417320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C2702A"/>
                </a:solidFill>
                <a:latin typeface="PingFang SC"/>
              </a:rPr>
              <a:t>卖家通知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3182112"/>
            <a:ext cx="2011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61304" y="3035808"/>
            <a:ext cx="1417320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3F8A5F"/>
                </a:solidFill>
                <a:latin typeface="PingFang SC"/>
              </a:rPr>
              <a:t>状态流转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096512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63A8"/>
                </a:solidFill>
                <a:latin typeface="PingFang SC"/>
              </a:rPr>
              <a:t>页面动作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096512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C2702A"/>
                </a:solidFill>
                <a:latin typeface="PingFang SC"/>
              </a:rPr>
              <a:t>背后的真实调用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443984"/>
            <a:ext cx="4892040" cy="18288"/>
          </a:xfrm>
          <a:prstGeom prst="rect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43984"/>
            <a:ext cx="4892040" cy="18288"/>
          </a:xfrm>
          <a:prstGeom prst="rect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6384" y="4690872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617720"/>
            <a:ext cx="4617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注册 / 登录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4873752"/>
            <a:ext cx="4617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POST /api/user/register 与 POST /api/user/login；密码 BCrypt 存储，登录返回 JWT。</a:t>
            </a:r>
          </a:p>
        </p:txBody>
      </p:sp>
      <p:sp>
        <p:nvSpPr>
          <p:cNvPr id="30" name="Oval 29"/>
          <p:cNvSpPr/>
          <p:nvPr/>
        </p:nvSpPr>
        <p:spPr>
          <a:xfrm>
            <a:off x="786384" y="5394960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321808"/>
            <a:ext cx="4617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发布 / 搜索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577840"/>
            <a:ext cx="4617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商品写 MySQL，同时同步 ES；无关键词列表走 MySQL，有关键词检索走 ES。</a:t>
            </a:r>
          </a:p>
        </p:txBody>
      </p:sp>
      <p:sp>
        <p:nvSpPr>
          <p:cNvPr id="33" name="Oval 32"/>
          <p:cNvSpPr/>
          <p:nvPr/>
        </p:nvSpPr>
        <p:spPr>
          <a:xfrm>
            <a:off x="786384" y="6099048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6025896"/>
            <a:ext cx="4617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下单 / 通知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6281928"/>
            <a:ext cx="4617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订单服务通过 Feign 扣库存，落库后发 RabbitMQ 通知卖家。</a:t>
            </a:r>
          </a:p>
        </p:txBody>
      </p:sp>
      <p:sp>
        <p:nvSpPr>
          <p:cNvPr id="36" name="Oval 35"/>
          <p:cNvSpPr/>
          <p:nvPr/>
        </p:nvSpPr>
        <p:spPr>
          <a:xfrm>
            <a:off x="6199632" y="4690872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617720"/>
            <a:ext cx="4617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身份来源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873752"/>
            <a:ext cx="4617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前端只带 Authorization；X-User-Id 由网关解析 JWT 后注入。</a:t>
            </a:r>
          </a:p>
        </p:txBody>
      </p:sp>
      <p:sp>
        <p:nvSpPr>
          <p:cNvPr id="39" name="Oval 38"/>
          <p:cNvSpPr/>
          <p:nvPr/>
        </p:nvSpPr>
        <p:spPr>
          <a:xfrm>
            <a:off x="6199632" y="5394960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5321808"/>
            <a:ext cx="4617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接口方法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577840"/>
            <a:ext cx="4617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查询统一 GET，创建/修改/删除/状态动作统一 POST。</a:t>
            </a:r>
          </a:p>
        </p:txBody>
      </p:sp>
      <p:sp>
        <p:nvSpPr>
          <p:cNvPr id="42" name="Oval 41"/>
          <p:cNvSpPr/>
          <p:nvPr/>
        </p:nvSpPr>
        <p:spPr>
          <a:xfrm>
            <a:off x="6199632" y="6099048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6025896"/>
            <a:ext cx="4617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数据来源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6281928"/>
            <a:ext cx="4617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默认 init.sql 不插演示数据；可选 seed-dev.sql 只用于本地演示准备。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整体架构：网关可信，服务守边界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图里的箭头就是一次浏览器请求从前端到数据层的大致走向。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142B49"/>
                </a:solidFill>
                <a:latin typeface="PingFang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1874519" cy="62179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39112"/>
            <a:ext cx="16550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1F8881"/>
                </a:solidFill>
                <a:latin typeface="PingFang SC"/>
              </a:rPr>
              <a:t>浏览器 / Vue SPA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9504" y="1828800"/>
            <a:ext cx="1691640" cy="62179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39112"/>
            <a:ext cx="14721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2663A8"/>
                </a:solidFill>
                <a:latin typeface="PingFang SC"/>
              </a:rPr>
              <a:t>Nginx 静态托管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9472" y="1828800"/>
            <a:ext cx="2240280" cy="62179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039112"/>
            <a:ext cx="20208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142B49"/>
                </a:solidFill>
                <a:latin typeface="PingFang SC"/>
              </a:rPr>
              <a:t>Spring Cloud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002536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002536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063240"/>
            <a:ext cx="1298448" cy="74980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3227832"/>
            <a:ext cx="11155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F8881"/>
                </a:solidFill>
                <a:latin typeface="PingFang SC"/>
              </a:rPr>
              <a:t>user
8081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3063240"/>
            <a:ext cx="1298448" cy="74980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79" y="3227832"/>
            <a:ext cx="11155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2663A8"/>
                </a:solidFill>
                <a:latin typeface="PingFang SC"/>
              </a:rPr>
              <a:t>product
8082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063240"/>
            <a:ext cx="1298448" cy="74980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3227832"/>
            <a:ext cx="11155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C2702A"/>
                </a:solidFill>
                <a:latin typeface="PingFang SC"/>
              </a:rPr>
              <a:t>order
8083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2587752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80" b="0">
                <a:solidFill>
                  <a:srgbClr val="606977"/>
                </a:solidFill>
                <a:latin typeface="PingFang SC"/>
              </a:rPr>
              <a:t>路由 / 鉴权 / CORS / X-User-Id 注入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4773168"/>
            <a:ext cx="13258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4965192"/>
            <a:ext cx="1234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3F8A5F"/>
                </a:solidFill>
                <a:latin typeface="PingFang SC"/>
              </a:rPr>
              <a:t>MySQL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773168"/>
            <a:ext cx="13258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65192"/>
            <a:ext cx="1234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B24D46"/>
                </a:solidFill>
                <a:latin typeface="PingFang SC"/>
              </a:rPr>
              <a:t>Redis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773168"/>
            <a:ext cx="13258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965192"/>
            <a:ext cx="1234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6F5BA5"/>
                </a:solidFill>
                <a:latin typeface="PingFang SC"/>
              </a:rPr>
              <a:t>Elasticsearch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773168"/>
            <a:ext cx="13258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965192"/>
            <a:ext cx="1234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C2702A"/>
                </a:solidFill>
                <a:latin typeface="PingFang SC"/>
              </a:rPr>
              <a:t>RabbitMQ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4773168"/>
            <a:ext cx="13258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4965192"/>
            <a:ext cx="1234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2663A8"/>
                </a:solidFill>
                <a:latin typeface="PingFang SC"/>
              </a:rPr>
              <a:t>Nacos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919472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D222B"/>
                </a:solidFill>
                <a:latin typeface="PingFang SC"/>
              </a:rPr>
              <a:t>数据与中间件层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33872"/>
            <a:ext cx="104241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关键点：服务之间不直接跨库 join；订单需要商品/用户信息时走 Feign 或保留必要冗余字段。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服务拆分：责任可定位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每个模块负责自己的数据和核心行为，出现问题时能快速缩小排查范围。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1F8881"/>
                </a:solidFill>
                <a:latin typeface="PingFang SC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627632"/>
            <a:ext cx="1965960" cy="384048"/>
          </a:xfrm>
          <a:prstGeom prst="rect">
            <a:avLst/>
          </a:prstGeom>
          <a:solidFill>
            <a:srgbClr val="142B49"/>
          </a:solidFill>
          <a:ln w="1270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00784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20" b="1">
                <a:solidFill>
                  <a:srgbClr val="FFFFFF"/>
                </a:solidFill>
                <a:latin typeface="PingFang SC"/>
              </a:rPr>
              <a:t>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627632"/>
            <a:ext cx="594360" cy="384048"/>
          </a:xfrm>
          <a:prstGeom prst="rect">
            <a:avLst/>
          </a:prstGeom>
          <a:solidFill>
            <a:srgbClr val="142B49"/>
          </a:solidFill>
          <a:ln w="1270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0078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20" b="1">
                <a:solidFill>
                  <a:srgbClr val="FFFFFF"/>
                </a:solidFill>
                <a:latin typeface="PingFang SC"/>
              </a:rPr>
              <a:t>端口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627632"/>
            <a:ext cx="4526280" cy="384048"/>
          </a:xfrm>
          <a:prstGeom prst="rect">
            <a:avLst/>
          </a:prstGeom>
          <a:solidFill>
            <a:srgbClr val="142B49"/>
          </a:solidFill>
          <a:ln w="1270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700784"/>
            <a:ext cx="4526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20" b="1">
                <a:solidFill>
                  <a:srgbClr val="FFFFFF"/>
                </a:solidFill>
                <a:latin typeface="PingFang SC"/>
              </a:rPr>
              <a:t>答辩时一句话说明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627632"/>
            <a:ext cx="2423160" cy="384048"/>
          </a:xfrm>
          <a:prstGeom prst="rect">
            <a:avLst/>
          </a:prstGeom>
          <a:solidFill>
            <a:srgbClr val="142B49"/>
          </a:solidFill>
          <a:ln w="1270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00784"/>
            <a:ext cx="2423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20" b="1">
                <a:solidFill>
                  <a:srgbClr val="FFFFFF"/>
                </a:solidFill>
                <a:latin typeface="PingFang SC"/>
              </a:rPr>
              <a:t>依赖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130552"/>
            <a:ext cx="196596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286000"/>
            <a:ext cx="18562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1">
                <a:solidFill>
                  <a:srgbClr val="2663A8"/>
                </a:solidFill>
                <a:latin typeface="PingFang SC"/>
              </a:rPr>
              <a:t>campus-gateway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130552"/>
            <a:ext cx="59436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2286000"/>
            <a:ext cx="4846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8080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2130552"/>
            <a:ext cx="452628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8183" y="2286000"/>
            <a:ext cx="44165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路由、JWT 鉴权、CORS、身份头注入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2130552"/>
            <a:ext cx="242316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58784" y="2286000"/>
            <a:ext cx="2313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Nacos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2807208"/>
            <a:ext cx="19659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2962656"/>
            <a:ext cx="18562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1">
                <a:solidFill>
                  <a:srgbClr val="2663A8"/>
                </a:solidFill>
                <a:latin typeface="PingFang SC"/>
              </a:rPr>
              <a:t>campus-user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2807208"/>
            <a:ext cx="5943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2962656"/>
            <a:ext cx="4846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8081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2807208"/>
            <a:ext cx="45262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58183" y="2962656"/>
            <a:ext cx="44165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注册、登录、个人信息、用户简要信息批量查询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807208"/>
            <a:ext cx="24231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2962656"/>
            <a:ext cx="2313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MySQL / Nacos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3483864"/>
            <a:ext cx="196596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3639312"/>
            <a:ext cx="18562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1">
                <a:solidFill>
                  <a:srgbClr val="2663A8"/>
                </a:solidFill>
                <a:latin typeface="PingFang SC"/>
              </a:rPr>
              <a:t>campus-product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3483864"/>
            <a:ext cx="59436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35224" y="3639312"/>
            <a:ext cx="4846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8082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3483864"/>
            <a:ext cx="452628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58183" y="3639312"/>
            <a:ext cx="44165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发布、修改、下架、详情缓存、商品搜索、库存接口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3483864"/>
            <a:ext cx="242316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58784" y="3639312"/>
            <a:ext cx="2313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MySQL / Redis / ES / Nacos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4160520"/>
            <a:ext cx="19659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4315968"/>
            <a:ext cx="18562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1">
                <a:solidFill>
                  <a:srgbClr val="2663A8"/>
                </a:solidFill>
                <a:latin typeface="PingFang SC"/>
              </a:rPr>
              <a:t>campus-order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4160520"/>
            <a:ext cx="5943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5224" y="4315968"/>
            <a:ext cx="4846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8083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3320" y="4160520"/>
            <a:ext cx="45262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58183" y="4315968"/>
            <a:ext cx="44165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下单、订单查询、状态流转、通知、秒杀削峰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4160520"/>
            <a:ext cx="24231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58784" y="4315968"/>
            <a:ext cx="2313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MySQL / Redis / RabbitMQ / Feign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" y="4837176"/>
            <a:ext cx="196596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" y="4992624"/>
            <a:ext cx="18562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1">
                <a:solidFill>
                  <a:srgbClr val="2663A8"/>
                </a:solidFill>
                <a:latin typeface="PingFang SC"/>
              </a:rPr>
              <a:t>campus-trade-web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80360" y="4837176"/>
            <a:ext cx="59436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5224" y="4992624"/>
            <a:ext cx="4846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5173 /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03320" y="4837176"/>
            <a:ext cx="452628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58183" y="4992624"/>
            <a:ext cx="44165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Vue 页面、API 封装、登录态处理、Nginx 托管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4837176"/>
            <a:ext cx="2423160" cy="585216"/>
          </a:xfrm>
          <a:prstGeom prst="rect">
            <a:avLst/>
          </a:prstGeom>
          <a:solidFill>
            <a:srgbClr val="F4F6F8"/>
          </a:solidFill>
          <a:ln w="762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58784" y="4992624"/>
            <a:ext cx="2313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Gateway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5870448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这张表的用途：答辩问“你们为什么拆成微服务”时，直接回到责任边界和数据归属。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鉴权链路：下游不信客户端身份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这里是项目里最容易被追问的安全点，也是微服务入口治理的核心。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2663A8"/>
                </a:solidFill>
                <a:latin typeface="PingFang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664208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1F8881"/>
                </a:solidFill>
                <a:latin typeface="PingFang SC"/>
              </a:rPr>
              <a:t>浏览器携带
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9736" y="2093976"/>
            <a:ext cx="22859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4056" y="1874519"/>
            <a:ext cx="1664208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B24D46"/>
                </a:solidFill>
                <a:latin typeface="PingFang SC"/>
              </a:rPr>
              <a:t>网关删除
X-User-Id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3" y="2093976"/>
            <a:ext cx="22859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1874519"/>
            <a:ext cx="1664208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2663A8"/>
                </a:solidFill>
                <a:latin typeface="PingFang SC"/>
              </a:rPr>
              <a:t>解析 JWT
得到 userId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093976"/>
            <a:ext cx="22859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02552" y="1874519"/>
            <a:ext cx="1664208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C2702A"/>
                </a:solidFill>
                <a:latin typeface="PingFang SC"/>
              </a:rPr>
              <a:t>重新注入
X-User-Id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93976"/>
            <a:ext cx="22859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874519"/>
            <a:ext cx="1664208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3F8A5F"/>
                </a:solidFill>
                <a:latin typeface="PingFang SC"/>
              </a:rPr>
              <a:t>下游读取
可信用户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310128"/>
            <a:ext cx="3246120" cy="148132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474720"/>
            <a:ext cx="384048" cy="384048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295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3483864"/>
            <a:ext cx="238658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为什么先删除 X-User-Id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931920"/>
            <a:ext cx="2807208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如果客户端可以自己传 userId，请求可以伪造成任意用户。网关先清掉这个头，再把 JWT 解析结果写进去。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310128"/>
            <a:ext cx="3246120" cy="148132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35424" y="3474720"/>
            <a:ext cx="384048" cy="384048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35295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483864"/>
            <a:ext cx="238658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哪些接口不鉴权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31920"/>
            <a:ext cx="2807208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注册、登录、商品列表、商品搜索、商品详情 GET 属于白名单；其他接口都需要 Bearer Token。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1856" y="3310128"/>
            <a:ext cx="3246120" cy="148132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56448" y="3474720"/>
            <a:ext cx="384048" cy="384048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35295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3483864"/>
            <a:ext cx="238658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CORS 怎么收口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3931920"/>
            <a:ext cx="2807208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网关只允许 GET、POST 和预检 OPTIONS；PUT、DELETE、PATCH 已从前后端入口移除。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5623560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代码证据：AuthGlobalFilter 负责身份头清理和注入；CorsConfig.allowedMethods() 被单测固定为 GET / POST / OPTIONS。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接口约束：只用 GET 和 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项目要求不能使用 PUT / DELETE，所以状态变更动作改用明确的 POST 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C2702A"/>
                </a:solidFill>
                <a:latin typeface="PingFang SC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63A8"/>
                </a:solidFill>
                <a:latin typeface="PingFang SC"/>
              </a:rPr>
              <a:t>查询类：GET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27632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C2702A"/>
                </a:solidFill>
                <a:latin typeface="PingFang SC"/>
              </a:rPr>
              <a:t>动作类：POST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75104"/>
            <a:ext cx="4892040" cy="18288"/>
          </a:xfrm>
          <a:prstGeom prst="rect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975104"/>
            <a:ext cx="4892040" cy="18288"/>
          </a:xfrm>
          <a:prstGeom prst="rect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6384" y="2231136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157984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/api/product/list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414015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商品分页列表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2935224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862072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/api/product/search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118104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关键词、分类、价格区间搜索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3639312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56616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/api/order/{id}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822191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订单详情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4343400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270248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/api/order/notification/list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526280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通知分页列表</a:t>
            </a:r>
          </a:p>
        </p:txBody>
      </p:sp>
      <p:sp>
        <p:nvSpPr>
          <p:cNvPr id="25" name="Oval 24"/>
          <p:cNvSpPr/>
          <p:nvPr/>
        </p:nvSpPr>
        <p:spPr>
          <a:xfrm>
            <a:off x="6199632" y="2231136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157984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/api/product/{id}/update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414015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修改商品，不再使用 PUT /product/{id}</a:t>
            </a:r>
          </a:p>
        </p:txBody>
      </p:sp>
      <p:sp>
        <p:nvSpPr>
          <p:cNvPr id="28" name="Oval 27"/>
          <p:cNvSpPr/>
          <p:nvPr/>
        </p:nvSpPr>
        <p:spPr>
          <a:xfrm>
            <a:off x="6199632" y="2935224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2862072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/api/product/{id}/delete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118104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逻辑下架，不再使用 DELETE /product/{id}</a:t>
            </a:r>
          </a:p>
        </p:txBody>
      </p:sp>
      <p:sp>
        <p:nvSpPr>
          <p:cNvPr id="31" name="Oval 30"/>
          <p:cNvSpPr/>
          <p:nvPr/>
        </p:nvSpPr>
        <p:spPr>
          <a:xfrm>
            <a:off x="6199632" y="3639312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566160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/api/order/{id}/pay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822191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支付状态流转</a:t>
            </a:r>
          </a:p>
        </p:txBody>
      </p:sp>
      <p:sp>
        <p:nvSpPr>
          <p:cNvPr id="34" name="Oval 33"/>
          <p:cNvSpPr/>
          <p:nvPr/>
        </p:nvSpPr>
        <p:spPr>
          <a:xfrm>
            <a:off x="6199632" y="4343400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270248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/api/order/notification/{id}/read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526280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标记通知已读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" y="5010912"/>
            <a:ext cx="4983480" cy="786384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184648"/>
            <a:ext cx="45811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后端门禁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632704"/>
            <a:ext cx="4544568" cy="365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Controller 反射测试禁止 @PutMapping / @DeleteMapping / @PatchMapping。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5010912"/>
            <a:ext cx="4983480" cy="786384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184648"/>
            <a:ext cx="45811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前端门禁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5632704"/>
            <a:ext cx="4544568" cy="365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npm test 扫描 src/api，阻止 method: put/delete/patch 回归。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数据模型：订单保留交易快照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这页解释为什么订单表里会冗余商品标题和成交价。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3F8A5F"/>
                </a:solidFill>
                <a:latin typeface="PingFang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828800"/>
            <a:ext cx="2057400" cy="2606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828800"/>
            <a:ext cx="2057400" cy="411480"/>
          </a:xfrm>
          <a:prstGeom prst="rect">
            <a:avLst/>
          </a:prstGeom>
          <a:solidFill>
            <a:srgbClr val="1F8881"/>
          </a:solidFill>
          <a:ln w="1270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1874519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t_user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14016"/>
            <a:ext cx="173736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id
username
password
nickname
phone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828800"/>
            <a:ext cx="2057400" cy="2606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28800"/>
            <a:ext cx="2057400" cy="411480"/>
          </a:xfrm>
          <a:prstGeom prst="rect">
            <a:avLst/>
          </a:prstGeom>
          <a:solidFill>
            <a:srgbClr val="2663A8"/>
          </a:solidFill>
          <a:ln w="1270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947672"/>
            <a:ext cx="1874519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t_product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414016"/>
            <a:ext cx="173736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id
title
price
seller_id
status
stock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828800"/>
            <a:ext cx="2057400" cy="2606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828800"/>
            <a:ext cx="2057400" cy="411480"/>
          </a:xfrm>
          <a:prstGeom prst="rect">
            <a:avLst/>
          </a:prstGeom>
          <a:solidFill>
            <a:srgbClr val="C2702A"/>
          </a:solidFill>
          <a:ln w="1270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947672"/>
            <a:ext cx="1874519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t_order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414016"/>
            <a:ext cx="173736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id
order_no
product_title
price
buyer_id
seller_id
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828800"/>
            <a:ext cx="2057400" cy="2606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F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828800"/>
            <a:ext cx="2057400" cy="411480"/>
          </a:xfrm>
          <a:prstGeom prst="rect">
            <a:avLst/>
          </a:prstGeom>
          <a:solidFill>
            <a:srgbClr val="6F5BA5"/>
          </a:solidFill>
          <a:ln w="12700">
            <a:solidFill>
              <a:srgbClr val="6F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947672"/>
            <a:ext cx="1874519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t_notification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414016"/>
            <a:ext cx="173736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1D222B"/>
                </a:solidFill>
                <a:latin typeface="PingFang SC"/>
              </a:rPr>
              <a:t>id
user_id
title
order_no
is_read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2834640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seller_id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2743200"/>
            <a:ext cx="548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buyer_id / seller_id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895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order_no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105156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答辩说明：订单表保存成交时的商品标题和价格，是交易快照；商品后续改名或下架，不影响历史订单展示。用户昵称这类展示字段通过 user 服务批量查询补齐。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商品链路：写库、搜索、缓存分开讲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这页把商品模块拆成三条不同的读写路径，避免讲混。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6F5BA5"/>
                </a:solidFill>
                <a:latin typeface="PingFang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83080"/>
            <a:ext cx="3337560" cy="123444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47672"/>
            <a:ext cx="384048" cy="384048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0253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956816"/>
            <a:ext cx="247802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发布 / 修改 / 下架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404872"/>
            <a:ext cx="289864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写入 MySQL；成功后同步 ES；修改和下架时驱逐商品详情缓存和秒杀预热 key。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1783080"/>
            <a:ext cx="3337560" cy="123444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8576" y="1947672"/>
            <a:ext cx="384048" cy="384048"/>
          </a:xfrm>
          <a:prstGeom prst="ellipse">
            <a:avLst/>
          </a:prstGeom>
          <a:solidFill>
            <a:srgbClr val="6F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00253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1956816"/>
            <a:ext cx="247802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列表 / 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404872"/>
            <a:ext cx="289864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无关键词列表走 MySQL；关键词、价格、排序走 ES；ES 异常时降级到 DB 模糊查询。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783080"/>
            <a:ext cx="3337560" cy="123444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1947672"/>
            <a:ext cx="384048" cy="384048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00253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1956816"/>
            <a:ext cx="247802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详情读取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2404872"/>
            <a:ext cx="289864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优先查 Redis 详情缓存；未命中时回源 MySQL 并回填，浏览量按服务逻辑更新。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58444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商品详情缓存策略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059936"/>
            <a:ext cx="82296" cy="82296"/>
          </a:xfrm>
          <a:prstGeom prst="ellipse">
            <a:avLst/>
          </a:prstGeom>
          <a:solidFill>
            <a:srgbClr val="6F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86784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穿透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42816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不存在的商品写短 TTL 空标记，避免一直打数据库。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6F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90872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击穿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46904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缓存失效时抢互斥锁重建，其他请求短暂等待或兜底。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468112"/>
            <a:ext cx="82296" cy="82296"/>
          </a:xfrm>
          <a:prstGeom prst="ellipse">
            <a:avLst/>
          </a:prstGeom>
          <a:solidFill>
            <a:srgbClr val="6F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394960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雪崩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50992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真实缓存 TTL 增加随机偏移，避免同一时间批量失效。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6172200"/>
            <a:ext cx="82296" cy="82296"/>
          </a:xfrm>
          <a:prstGeom prst="ellipse">
            <a:avLst/>
          </a:prstGeom>
          <a:solidFill>
            <a:srgbClr val="6F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6099048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降级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355080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Redis 不可用时启用本地短缓存和日志告警。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358444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我会这样讲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3056" y="3986784"/>
            <a:ext cx="49834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06977"/>
                </a:solidFill>
                <a:latin typeface="PingFang SC"/>
              </a:rPr>
              <a:t>商品模块不是简单 CRUD。发布、搜索、详情三条路径的目标不同：写路径追求一致性，搜索路径追求检索体验，详情路径追求热点读取稳定性。三个目标不一样，所以用了 MySQL、ES、Redis 的组合。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下单链路：扣库存、写订单、失败补偿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交易链路最怕“库存扣了但订单没了”，所以这里重点讲补偿。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C2702A"/>
                </a:solidFill>
                <a:latin typeface="PingFang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41732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2663A8"/>
                </a:solidFill>
                <a:latin typeface="PingFang SC"/>
              </a:rPr>
              <a:t>校验商品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066543"/>
            <a:ext cx="164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874519"/>
            <a:ext cx="141732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B24D46"/>
                </a:solidFill>
                <a:latin typeface="PingFang SC"/>
              </a:rPr>
              <a:t>防止自买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066543"/>
            <a:ext cx="164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1874519"/>
            <a:ext cx="141732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C2702A"/>
                </a:solidFill>
                <a:latin typeface="PingFang SC"/>
              </a:rPr>
              <a:t>Feign 扣库存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2066543"/>
            <a:ext cx="164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9864" y="1874519"/>
            <a:ext cx="141732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3F8A5F"/>
                </a:solidFill>
                <a:latin typeface="PingFang SC"/>
              </a:rPr>
              <a:t>写订单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2904" y="2066543"/>
            <a:ext cx="164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1874519"/>
            <a:ext cx="141732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6F5BA5"/>
                </a:solidFill>
                <a:latin typeface="PingFang SC"/>
              </a:rPr>
              <a:t>发通知消息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2066543"/>
            <a:ext cx="164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8" y="1874519"/>
            <a:ext cx="141732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50" b="1">
                <a:solidFill>
                  <a:srgbClr val="1F8881"/>
                </a:solidFill>
                <a:latin typeface="PingFang SC"/>
              </a:rPr>
              <a:t>返回订单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127248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63A8"/>
                </a:solidFill>
                <a:latin typeface="PingFang SC"/>
              </a:rPr>
              <a:t>正常路径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127248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C2702A"/>
                </a:solidFill>
                <a:latin typeface="PingFang SC"/>
              </a:rPr>
              <a:t>异常和补偿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474720"/>
            <a:ext cx="4892040" cy="18288"/>
          </a:xfrm>
          <a:prstGeom prst="rect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474720"/>
            <a:ext cx="4892040" cy="18288"/>
          </a:xfrm>
          <a:prstGeom prst="rect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6384" y="3730752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3657600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商品校验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3913632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订单服务不直接查商品表，通过 ProductFeignClient 获取商品快照。</a:t>
            </a:r>
          </a:p>
        </p:txBody>
      </p:sp>
      <p:sp>
        <p:nvSpPr>
          <p:cNvPr id="27" name="Oval 26"/>
          <p:cNvSpPr/>
          <p:nvPr/>
        </p:nvSpPr>
        <p:spPr>
          <a:xfrm>
            <a:off x="786384" y="4434840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361688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库存扣减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4617720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商品服务用条件 UPDATE 保证 stock &gt; 0 且 status = 1。</a:t>
            </a:r>
          </a:p>
        </p:txBody>
      </p:sp>
      <p:sp>
        <p:nvSpPr>
          <p:cNvPr id="30" name="Oval 29"/>
          <p:cNvSpPr/>
          <p:nvPr/>
        </p:nvSpPr>
        <p:spPr>
          <a:xfrm>
            <a:off x="786384" y="5138927"/>
            <a:ext cx="82296" cy="82296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065775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订单落库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321807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保存 order_no、product_title、price、buyer_id、seller_id。</a:t>
            </a:r>
          </a:p>
        </p:txBody>
      </p:sp>
      <p:sp>
        <p:nvSpPr>
          <p:cNvPr id="33" name="Oval 32"/>
          <p:cNvSpPr/>
          <p:nvPr/>
        </p:nvSpPr>
        <p:spPr>
          <a:xfrm>
            <a:off x="6199632" y="3730752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3657600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落库失败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913632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已经扣掉的库存通过 restoreStock(productId, orderNo) 回滚。</a:t>
            </a:r>
          </a:p>
        </p:txBody>
      </p:sp>
      <p:sp>
        <p:nvSpPr>
          <p:cNvPr id="36" name="Oval 35"/>
          <p:cNvSpPr/>
          <p:nvPr/>
        </p:nvSpPr>
        <p:spPr>
          <a:xfrm>
            <a:off x="6199632" y="4434840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361688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重复回滚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617720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商品服务用 Redis 幂等 key 防止同一个 orderNo 多次加库存。</a:t>
            </a:r>
          </a:p>
        </p:txBody>
      </p:sp>
      <p:sp>
        <p:nvSpPr>
          <p:cNvPr id="39" name="Oval 38"/>
          <p:cNvSpPr/>
          <p:nvPr/>
        </p:nvSpPr>
        <p:spPr>
          <a:xfrm>
            <a:off x="6199632" y="5138927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5065775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D222B"/>
                </a:solidFill>
                <a:latin typeface="PingFang SC"/>
              </a:rPr>
              <a:t>消息失败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321807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606977"/>
                </a:solidFill>
                <a:latin typeface="PingFang SC"/>
              </a:rPr>
              <a:t>通知消息失败不应破坏订单主流程，需要日志和重试/DLQ 兜底。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742432"/>
            <a:ext cx="10241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答辩时可以强调：这里没有分布式事务，采用的是本地事务 + Feign 补偿 + 幂等保护，适合课程项目的复杂度。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订单状态：用条件更新挡住并发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支付、确认收货、取消都不是简单 setStatus，而是检查当前状态是否允许转换。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3F8A5F"/>
                </a:solidFill>
                <a:latin typeface="PingFang SC"/>
              </a:rP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03120"/>
            <a:ext cx="1207008" cy="9144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10241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C2702A"/>
                </a:solidFill>
                <a:latin typeface="PingFang SC"/>
              </a:rPr>
              <a:t>待付款
0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2103120"/>
            <a:ext cx="1207008" cy="9144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359152"/>
            <a:ext cx="10241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2663A8"/>
                </a:solidFill>
                <a:latin typeface="PingFang SC"/>
              </a:rPr>
              <a:t>已付款
1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103120"/>
            <a:ext cx="1207008" cy="9144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3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10241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3F8A5F"/>
                </a:solidFill>
                <a:latin typeface="PingFang SC"/>
              </a:rPr>
              <a:t>已完成
2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3886200"/>
            <a:ext cx="1207008" cy="9144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B2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4142232"/>
            <a:ext cx="10241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B24D46"/>
                </a:solidFill>
                <a:latin typeface="PingFang SC"/>
              </a:rPr>
              <a:t>已取消
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24048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2663A8"/>
                </a:solidFill>
                <a:latin typeface="PingFang SC"/>
              </a:rPr>
              <a:t>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4048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F8A5F"/>
                </a:solidFill>
                <a:latin typeface="PingFang SC"/>
              </a:rPr>
              <a:t>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40156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B24D46"/>
                </a:solidFill>
                <a:latin typeface="PingFang SC"/>
              </a:rPr>
              <a:t>cancel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2331720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331720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2907792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1">
                <a:solidFill>
                  <a:srgbClr val="606977"/>
                </a:solidFill>
                <a:latin typeface="PingFang SC"/>
              </a:rPr>
              <a:t>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1783080"/>
            <a:ext cx="2697480" cy="100584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0808" y="1956816"/>
            <a:ext cx="229514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乐观条件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404872"/>
            <a:ext cx="22585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更新时带 expected status；如果已被其他请求改过，更新行数为 0。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3072384"/>
            <a:ext cx="2697480" cy="100584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0808" y="3246120"/>
            <a:ext cx="229514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取消幂等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694176"/>
            <a:ext cx="22585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已取消订单再次取消直接返回，避免重复报错影响体验。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4361688"/>
            <a:ext cx="2697480" cy="100584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0808" y="4535424"/>
            <a:ext cx="229514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库存联动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096" y="4983479"/>
            <a:ext cx="22585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取消待付款订单时回滚库存；确认完成后商品保持已售。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5715000"/>
            <a:ext cx="101498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接口口径：POST /api/order/{id}/pay、/confirm、/cancel。使用 POST 是为了满足交付约束，不代表没有状态语义。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RabbitMQ：通知异步，秒杀排队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同一个中间件在项目里承担了两个不同任务，答辩时要分开讲。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C2702A"/>
                </a:solidFill>
                <a:latin typeface="PingFang S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92224"/>
            <a:ext cx="5074920" cy="13716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56816"/>
            <a:ext cx="384048" cy="384048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965960"/>
            <a:ext cx="421538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下单通知：不阻塞主链路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414016"/>
            <a:ext cx="463600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订单创建成功后发出通知消息，消费者写入 t_notification。前端查询通知列表和未读数，卖家可以看到新订单提醒。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92224"/>
            <a:ext cx="5074920" cy="13716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36792" y="1956816"/>
            <a:ext cx="384048" cy="384048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01168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965960"/>
            <a:ext cx="421538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秒杀削峰：把瞬时请求变成可控消费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414016"/>
            <a:ext cx="463600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入口只做 Redis 预扣和入队，真正创建订单由消费者按能力处理，避免所有请求同时打数据库。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675887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可靠性设计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142232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69080"/>
            <a:ext cx="4846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消费者重试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25112"/>
            <a:ext cx="4846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处理失败不会马上丢消息。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846320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73168"/>
            <a:ext cx="4846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DLX / DLQ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29200"/>
            <a:ext cx="4846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多次失败后进入死信队列，便于排查。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550408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77256"/>
            <a:ext cx="4846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通知去重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733288"/>
            <a:ext cx="4846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按 orderNo 做消费幂等，避免重复通知。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6254496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181344"/>
            <a:ext cx="4846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关键日志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437376"/>
            <a:ext cx="4846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成功落库但结果写 Redis 失败时记录 CRITICAL，留给人工补偿。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3675887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一句话回答“为什么要 MQ”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4087368"/>
            <a:ext cx="475488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06977"/>
                </a:solidFill>
                <a:latin typeface="PingFang SC"/>
              </a:rPr>
              <a:t>普通下单场景中，MQ 让通知从主交易链路里拆出去；秒杀场景中，MQ 把峰值写入压力平滑给消费者。两处的共同点都是：用户请求不用等所有后续工作同步完成。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秒杀链路：入口快返回，消费端落库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这页按时间顺序讲清楚：先防重复，再预扣，再排队，最后生成订单。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B24D46"/>
                </a:solidFill>
                <a:latin typeface="PingFang S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3182112" cy="102412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29384"/>
            <a:ext cx="277977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1
预热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7744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商品和库存进入 Redis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755648"/>
            <a:ext cx="3182112" cy="102412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929384"/>
            <a:ext cx="277977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2
去重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7744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result key 阻止重复秒杀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755648"/>
            <a:ext cx="3182112" cy="102412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929384"/>
            <a:ext cx="277977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3
预扣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DECR 做入口库存原子扣减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328415"/>
            <a:ext cx="3182112" cy="102412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502151"/>
            <a:ext cx="277977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4
入队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3950207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消息进入 seckill.queue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328415"/>
            <a:ext cx="3182112" cy="102412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3502151"/>
            <a:ext cx="277977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5
落库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3950207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消费者创建订单并扣 DB 库存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3328415"/>
            <a:ext cx="3182112" cy="102412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502151"/>
            <a:ext cx="277977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6
回查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50207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前端轮询秒杀结果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74920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补偿路径</a:t>
            </a:r>
          </a:p>
        </p:txBody>
      </p:sp>
      <p:sp>
        <p:nvSpPr>
          <p:cNvPr id="28" name="Oval 27"/>
          <p:cNvSpPr/>
          <p:nvPr/>
        </p:nvSpPr>
        <p:spPr>
          <a:xfrm>
            <a:off x="2011680" y="5056632"/>
            <a:ext cx="82296" cy="82296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4983480"/>
            <a:ext cx="8412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D222B"/>
                </a:solidFill>
                <a:latin typeface="PingFang SC"/>
              </a:rPr>
              <a:t>MQ 发送失败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239512"/>
            <a:ext cx="8412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606977"/>
                </a:solidFill>
                <a:latin typeface="PingFang SC"/>
              </a:rPr>
              <a:t>删除 resultKey，并把 Redis 预扣库存 increment 回去。</a:t>
            </a:r>
          </a:p>
        </p:txBody>
      </p:sp>
      <p:sp>
        <p:nvSpPr>
          <p:cNvPr id="31" name="Oval 30"/>
          <p:cNvSpPr/>
          <p:nvPr/>
        </p:nvSpPr>
        <p:spPr>
          <a:xfrm>
            <a:off x="2011680" y="5760720"/>
            <a:ext cx="82296" cy="82296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5687568"/>
            <a:ext cx="8412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D222B"/>
                </a:solidFill>
                <a:latin typeface="PingFang SC"/>
              </a:rPr>
              <a:t>DB 落库失败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943600"/>
            <a:ext cx="8412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606977"/>
                </a:solidFill>
                <a:latin typeface="PingFang SC"/>
              </a:rPr>
              <a:t>如果已经扣过真实库存，调用 restoreStock 回滚。</a:t>
            </a:r>
          </a:p>
        </p:txBody>
      </p:sp>
      <p:sp>
        <p:nvSpPr>
          <p:cNvPr id="34" name="Oval 33"/>
          <p:cNvSpPr/>
          <p:nvPr/>
        </p:nvSpPr>
        <p:spPr>
          <a:xfrm>
            <a:off x="2011680" y="6464808"/>
            <a:ext cx="82296" cy="82296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6391656"/>
            <a:ext cx="8412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D222B"/>
                </a:solidFill>
                <a:latin typeface="PingFang SC"/>
              </a:rPr>
              <a:t>DB 成功但 Redis 结果失败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6647688"/>
            <a:ext cx="8412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606977"/>
                </a:solidFill>
                <a:latin typeface="PingFang SC"/>
              </a:rPr>
              <a:t>不把成功订单误判为失败，只记录关键日志。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部署：Compose 按健康检查启动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这一页用于说明交付环境怎么拉起来，也说明为什么 Dockerfile 做了调整。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142B49"/>
                </a:solidFill>
                <a:latin typeface="PingFang SC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3F8A5F"/>
                </a:solidFill>
                <a:latin typeface="PingFang SC"/>
              </a:rPr>
              <a:t>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8296" y="1901952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3744" y="1755648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B24D46"/>
                </a:solidFill>
                <a:latin typeface="PingFang SC"/>
              </a:rPr>
              <a:t>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1" y="1901952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755648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6F5BA5"/>
                </a:solidFill>
                <a:latin typeface="PingFang SC"/>
              </a:rPr>
              <a:t>Elasticsearch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1901952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1616" y="1755648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C2702A"/>
                </a:solidFill>
                <a:latin typeface="PingFang SC"/>
              </a:rPr>
              <a:t>RabbitMQ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0104" y="1901952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5552" y="1755648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2663A8"/>
                </a:solidFill>
                <a:latin typeface="PingFang SC"/>
              </a:rPr>
              <a:t>Nacos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542032"/>
            <a:ext cx="47548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中间件先启动并通过 healthcheck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337560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42B49"/>
                </a:solidFill>
                <a:latin typeface="PingFang SC"/>
              </a:rPr>
              <a:t>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68296" y="3483864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23744" y="3337560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8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8881"/>
                </a:solidFill>
                <a:latin typeface="PingFang SC"/>
              </a:rPr>
              <a:t>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1" y="3483864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37560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2663A8"/>
                </a:solidFill>
                <a:latin typeface="PingFang SC"/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3483864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1616" y="3337560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C2702A"/>
                </a:solidFill>
                <a:latin typeface="PingFang SC"/>
              </a:rPr>
              <a:t>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3483864"/>
            <a:ext cx="109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606977"/>
                </a:solidFill>
                <a:latin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5552" y="3337560"/>
            <a:ext cx="157276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3F8A5F"/>
                </a:solidFill>
                <a:latin typeface="PingFang SC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133087"/>
            <a:ext cx="53035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应用服务随后启动；前端容器依赖 gateway healthy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617720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63A8"/>
                </a:solidFill>
                <a:latin typeface="PingFang SC"/>
              </a:rPr>
              <a:t>Dockerfile 调整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617720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C2702A"/>
                </a:solidFill>
                <a:latin typeface="PingFang SC"/>
              </a:rPr>
              <a:t>启动与验证命令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965192"/>
            <a:ext cx="4892040" cy="18288"/>
          </a:xfrm>
          <a:prstGeom prst="rect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965192"/>
            <a:ext cx="4892040" cy="18288"/>
          </a:xfrm>
          <a:prstGeom prst="rect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" y="5175504"/>
            <a:ext cx="82296" cy="82296"/>
          </a:xfrm>
          <a:prstGeom prst="ellipse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5102352"/>
            <a:ext cx="4617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D222B"/>
                </a:solidFill>
                <a:latin typeface="PingFang SC"/>
              </a:rPr>
              <a:t>JRE 基础镜像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5358384"/>
            <a:ext cx="4617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606977"/>
                </a:solidFill>
                <a:latin typeface="PingFang SC"/>
              </a:rPr>
              <a:t>统一使用 eclipse-temurin:17-jre-jammy。</a:t>
            </a:r>
          </a:p>
        </p:txBody>
      </p:sp>
      <p:sp>
        <p:nvSpPr>
          <p:cNvPr id="36" name="Oval 35"/>
          <p:cNvSpPr/>
          <p:nvPr/>
        </p:nvSpPr>
        <p:spPr>
          <a:xfrm>
            <a:off x="786384" y="5879592"/>
            <a:ext cx="82296" cy="82296"/>
          </a:xfrm>
          <a:prstGeom prst="ellipse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5806440"/>
            <a:ext cx="4617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D222B"/>
                </a:solidFill>
                <a:latin typeface="PingFang SC"/>
              </a:rPr>
              <a:t>健康检查工具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" y="6062472"/>
            <a:ext cx="4617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606977"/>
                </a:solidFill>
                <a:latin typeface="PingFang SC"/>
              </a:rPr>
              <a:t>安装 netcat-openbsd，用 nc -z 检查端口。</a:t>
            </a:r>
          </a:p>
        </p:txBody>
      </p:sp>
      <p:sp>
        <p:nvSpPr>
          <p:cNvPr id="39" name="Oval 38"/>
          <p:cNvSpPr/>
          <p:nvPr/>
        </p:nvSpPr>
        <p:spPr>
          <a:xfrm>
            <a:off x="6199632" y="5084064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5010912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D222B"/>
                </a:solidFill>
                <a:latin typeface="PingFang SC"/>
              </a:rPr>
              <a:t>构建 jar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266944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606977"/>
                </a:solidFill>
                <a:latin typeface="PingFang SC"/>
              </a:rPr>
              <a:t>cd campus-trade &amp;&amp; mvn package -DskipTests</a:t>
            </a:r>
          </a:p>
        </p:txBody>
      </p:sp>
      <p:sp>
        <p:nvSpPr>
          <p:cNvPr id="42" name="Oval 41"/>
          <p:cNvSpPr/>
          <p:nvPr/>
        </p:nvSpPr>
        <p:spPr>
          <a:xfrm>
            <a:off x="6199632" y="5788152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5715000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D222B"/>
                </a:solidFill>
                <a:latin typeface="PingFang SC"/>
              </a:rPr>
              <a:t>全栈启动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5971032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606977"/>
                </a:solidFill>
                <a:latin typeface="PingFang SC"/>
              </a:rPr>
              <a:t>docker compose up -d --build</a:t>
            </a:r>
          </a:p>
        </p:txBody>
      </p:sp>
      <p:sp>
        <p:nvSpPr>
          <p:cNvPr id="45" name="Oval 44"/>
          <p:cNvSpPr/>
          <p:nvPr/>
        </p:nvSpPr>
        <p:spPr>
          <a:xfrm>
            <a:off x="6199632" y="6492240"/>
            <a:ext cx="82296" cy="82296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6419088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1D222B"/>
                </a:solidFill>
                <a:latin typeface="PingFang SC"/>
              </a:rPr>
              <a:t>前端构建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6675120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606977"/>
                </a:solidFill>
                <a:latin typeface="PingFang SC"/>
              </a:rPr>
              <a:t>cd campus-trade-web &amp;&amp; npm run build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交付门禁：用测试拦住回归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这里直接展示已经落到项目里的检查项。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2663A8"/>
                </a:solidFill>
                <a:latin typeface="PingFang SC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3291840" cy="11430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01952"/>
            <a:ext cx="384048" cy="384048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56815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911095"/>
            <a:ext cx="243230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后端 mvn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359152"/>
            <a:ext cx="285292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JWT 工具测试；网关 CORS 方法测试；各 Controller HTTP 方法契约测试。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1737360"/>
            <a:ext cx="3291840" cy="11430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8576" y="1901952"/>
            <a:ext cx="384048" cy="384048"/>
          </a:xfrm>
          <a:prstGeom prst="ellipse">
            <a:avLst/>
          </a:prstGeom>
          <a:solidFill>
            <a:srgbClr val="1F8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956815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1911095"/>
            <a:ext cx="24323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前端 npm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59152"/>
            <a:ext cx="285292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扫描 src/api，只允许 get/post，阻止 mock / fake / dummy 类 API 命名。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737360"/>
            <a:ext cx="3291840" cy="11430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1901952"/>
            <a:ext cx="384048" cy="384048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956815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1911095"/>
            <a:ext cx="243230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npm run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2359152"/>
            <a:ext cx="285292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Vite 生产构建通过，能生成 dist 给 Nginx 容器托管。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419856"/>
            <a:ext cx="2560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最近一次本地验证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858768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663A8"/>
                </a:solidFill>
                <a:latin typeface="PingFang SC"/>
              </a:rPr>
              <a:t>mvn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858768"/>
            <a:ext cx="6858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通过，所有后端模块 SUCCESS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297679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663A8"/>
                </a:solidFill>
                <a:latin typeface="PingFang SC"/>
              </a:rPr>
              <a:t>npm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297679"/>
            <a:ext cx="6858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通过，strict delivery check passed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736592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663A8"/>
                </a:solidFill>
                <a:latin typeface="PingFang SC"/>
              </a:rPr>
              <a:t>npm run 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736592"/>
            <a:ext cx="6858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通过，仅有 Vite 大 chunk 提示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175504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663A8"/>
                </a:solidFill>
                <a:latin typeface="PingFang SC"/>
              </a:rPr>
              <a:t>git diff --check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175504"/>
            <a:ext cx="6858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通过，无空白和冲突标记问题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2531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答辩时可以把测试作为“可验收证据”，不要只说我测过，而是说怎么复验。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安全和风险：证据与边界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这页要显得诚实，避免把课程项目包装成生产级系统。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B24D46"/>
                </a:solidFill>
                <a:latin typeface="PingFang SC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63A8"/>
                </a:solidFill>
                <a:latin typeface="PingFang SC"/>
              </a:rPr>
              <a:t>已经处理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27632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C2702A"/>
                </a:solidFill>
                <a:latin typeface="PingFang SC"/>
              </a:rPr>
              <a:t>仍建议后续增强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75104"/>
            <a:ext cx="4892040" cy="18288"/>
          </a:xfrm>
          <a:prstGeom prst="rect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975104"/>
            <a:ext cx="4892040" cy="18288"/>
          </a:xfrm>
          <a:prstGeom prst="rect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6384" y="2221992"/>
            <a:ext cx="82296" cy="82296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148840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伪造身份头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404872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网关无条件移除客户端 X-User-Id。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2926080"/>
            <a:ext cx="82296" cy="82296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852928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Token 异常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108960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JWT 解析失败返回统一 401 JSON。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3630168"/>
            <a:ext cx="82296" cy="82296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557016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库存超卖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813048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扣库存 SQL 带 status=1 AND stock&gt;0 条件。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4334256"/>
            <a:ext cx="82296" cy="82296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261104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重复回滚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517136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restoreStock 使用 orderNo 幂等保护。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" y="5038344"/>
            <a:ext cx="82296" cy="82296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965192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队列失败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21224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消费者重试和 DLQ 保留异常消息。</a:t>
            </a:r>
          </a:p>
        </p:txBody>
      </p:sp>
      <p:sp>
        <p:nvSpPr>
          <p:cNvPr id="28" name="Oval 27"/>
          <p:cNvSpPr/>
          <p:nvPr/>
        </p:nvSpPr>
        <p:spPr>
          <a:xfrm>
            <a:off x="6199632" y="2221992"/>
            <a:ext cx="82296" cy="82296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2148840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内部接口鉴权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404872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业务端口暴露到宿主机时，/user/batch 和 /product/inner/* 还需要内部密钥或网段限制。</a:t>
            </a:r>
          </a:p>
        </p:txBody>
      </p:sp>
      <p:sp>
        <p:nvSpPr>
          <p:cNvPr id="31" name="Oval 30"/>
          <p:cNvSpPr/>
          <p:nvPr/>
        </p:nvSpPr>
        <p:spPr>
          <a:xfrm>
            <a:off x="6199632" y="2926080"/>
            <a:ext cx="82296" cy="82296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852928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JWT 密钥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108960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应从环境变量或 Secret 注入，支持轮换。</a:t>
            </a:r>
          </a:p>
        </p:txBody>
      </p:sp>
      <p:sp>
        <p:nvSpPr>
          <p:cNvPr id="34" name="Oval 33"/>
          <p:cNvSpPr/>
          <p:nvPr/>
        </p:nvSpPr>
        <p:spPr>
          <a:xfrm>
            <a:off x="6199632" y="3630168"/>
            <a:ext cx="82296" cy="82296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3557016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前端 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813048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localStorage 存储有 XSS 风险，生产可改 HttpOnly Cookie。</a:t>
            </a:r>
          </a:p>
        </p:txBody>
      </p:sp>
      <p:sp>
        <p:nvSpPr>
          <p:cNvPr id="37" name="Oval 36"/>
          <p:cNvSpPr/>
          <p:nvPr/>
        </p:nvSpPr>
        <p:spPr>
          <a:xfrm>
            <a:off x="6199632" y="4334256"/>
            <a:ext cx="82296" cy="82296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261104"/>
            <a:ext cx="47091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1">
                <a:solidFill>
                  <a:srgbClr val="1D222B"/>
                </a:solidFill>
                <a:latin typeface="PingFang SC"/>
              </a:rPr>
              <a:t>ES 最终一致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517136"/>
            <a:ext cx="470915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606977"/>
                </a:solidFill>
                <a:latin typeface="PingFang SC"/>
              </a:rPr>
              <a:t>搜索索引短暂滞后可接受，后续可加定时 reindex 或 Canal。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687568"/>
            <a:ext cx="10241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回答方式：不要说“没有问题”，要说“这个项目当前解决了哪些风险，哪些属于部署或生产化阶段再处理”。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演示节奏：每步落到技术点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这页可以放在备份页，也可以作为演示前说明。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6F5BA5"/>
                </a:solidFill>
                <a:latin typeface="PingFang SC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00784"/>
            <a:ext cx="4983480" cy="7498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865376"/>
            <a:ext cx="384048" cy="384048"/>
          </a:xfrm>
          <a:prstGeom prst="ellipse">
            <a:avLst/>
          </a:prstGeom>
          <a:solidFill>
            <a:srgbClr val="1F8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74520"/>
            <a:ext cx="41239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注册登录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322576"/>
            <a:ext cx="4544568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用户服务 + BCrypt + 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00784"/>
            <a:ext cx="4983480" cy="7498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865376"/>
            <a:ext cx="384048" cy="384048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2024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874520"/>
            <a:ext cx="41239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发布商品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322576"/>
            <a:ext cx="4544568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商品服务写 MySQL，同步 ES，清缓存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2706624"/>
            <a:ext cx="4983480" cy="7498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2871216"/>
            <a:ext cx="384048" cy="384048"/>
          </a:xfrm>
          <a:prstGeom prst="ellipse">
            <a:avLst/>
          </a:prstGeom>
          <a:solidFill>
            <a:srgbClr val="6F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2608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2880360"/>
            <a:ext cx="41239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搜索商品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3328416"/>
            <a:ext cx="4544568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ES 检索和 DB 降级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706624"/>
            <a:ext cx="4983480" cy="7498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82512" y="2871216"/>
            <a:ext cx="384048" cy="384048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92608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2880360"/>
            <a:ext cx="41239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商品详情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328416"/>
            <a:ext cx="4544568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Redis cache-aside 和三类缓存问题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3712464"/>
            <a:ext cx="4983480" cy="7498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3877056"/>
            <a:ext cx="384048" cy="384048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93192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8176" y="3886200"/>
            <a:ext cx="41239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购买下单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4334256"/>
            <a:ext cx="4544568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Feign 扣库存 + 订单补偿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712464"/>
            <a:ext cx="4983480" cy="7498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82512" y="3877056"/>
            <a:ext cx="384048" cy="384048"/>
          </a:xfrm>
          <a:prstGeom prst="ellipse">
            <a:avLst/>
          </a:prstGeom>
          <a:solidFill>
            <a:srgbClr val="B2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93192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3886200"/>
            <a:ext cx="41239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卖家通知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4334256"/>
            <a:ext cx="4544568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RabbitMQ 异步通知 + 通知表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" y="4718304"/>
            <a:ext cx="4983480" cy="7498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4882896"/>
            <a:ext cx="384048" cy="384048"/>
          </a:xfrm>
          <a:prstGeom prst="ellipse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93776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08176" y="4892040"/>
            <a:ext cx="41239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订单状态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" y="5340096"/>
            <a:ext cx="4544568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POST 动作接口 + 条件状态流转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718304"/>
            <a:ext cx="4983480" cy="7498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2512" y="4882896"/>
            <a:ext cx="384048" cy="384048"/>
          </a:xfrm>
          <a:prstGeom prst="ellipse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493776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4892040"/>
            <a:ext cx="41239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秒杀说明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7376" y="5340096"/>
            <a:ext cx="4544568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Redis 预扣 + MQ 削峰 + 消费端落库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925312"/>
            <a:ext cx="10241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小技巧：演示中不要说“这里用了某某技术”，而是说“这个页面动作背后触发了哪条链路，以及为什么这样设计”。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高频追问：短回答要有细节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把回答准备成 20 秒版本，现场再按老师兴趣展开。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C2702A"/>
                </a:solidFill>
                <a:latin typeface="PingFang SC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4983480" cy="138988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56816"/>
            <a:ext cx="4617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D222B"/>
                </a:solidFill>
                <a:latin typeface="PingFang SC"/>
              </a:rPr>
              <a:t>为什么不用跨库 join？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459028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0">
                <a:solidFill>
                  <a:srgbClr val="606977"/>
                </a:solidFill>
                <a:latin typeface="PingFang SC"/>
              </a:rPr>
              <a:t>订单服务只拥有订单数据。商品标题、成交价在下单时做交易快照；用户昵称通过 Feign 批量查询，不直接依赖用户表结构。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755648"/>
            <a:ext cx="4983480" cy="138988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56816"/>
            <a:ext cx="4617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D222B"/>
                </a:solidFill>
                <a:latin typeface="PingFang SC"/>
              </a:rPr>
              <a:t>缓存三兄弟怎么落地？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22576"/>
            <a:ext cx="459028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0">
                <a:solidFill>
                  <a:srgbClr val="606977"/>
                </a:solidFill>
                <a:latin typeface="PingFang SC"/>
              </a:rPr>
              <a:t>穿透用空值标记，击穿用互斥锁重建，雪崩用随机 TTL；Redis 异常时还有本地短缓存兜底。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630168"/>
            <a:ext cx="4983480" cy="138988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831335"/>
            <a:ext cx="4617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D222B"/>
                </a:solidFill>
                <a:latin typeface="PingFang SC"/>
              </a:rPr>
              <a:t>MQ 在这里的价值是什么？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197096"/>
            <a:ext cx="459028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0">
                <a:solidFill>
                  <a:srgbClr val="606977"/>
                </a:solidFill>
                <a:latin typeface="PingFang SC"/>
              </a:rPr>
              <a:t>普通下单把通知异步化，秒杀把峰值请求排队化；两者都是让用户请求不被后续处理拖住。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630168"/>
            <a:ext cx="4983480" cy="138988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31335"/>
            <a:ext cx="4617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D222B"/>
                </a:solidFill>
                <a:latin typeface="PingFang SC"/>
              </a:rPr>
              <a:t>为什么只用 GET/POST？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97096"/>
            <a:ext cx="459028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0">
                <a:solidFill>
                  <a:srgbClr val="606977"/>
                </a:solidFill>
                <a:latin typeface="PingFang SC"/>
              </a:rPr>
              <a:t>交付规则要求只允许 GET/POST。查询用 GET，所有状态动作明确命名后用 POST，并用测试防止 PUT/DELETE 回归。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149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06977"/>
                </a:solidFill>
                <a:latin typeface="PingFang SC"/>
              </a:rPr>
              <a:t>补充口径：如果追问生产化，我会主动提内部接口鉴权、JWT 密钥外置、Token 存储方式这三项后续改进。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528816"/>
            <a:ext cx="10881360" cy="13716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06977"/>
                </a:solidFill>
                <a:latin typeface="PingFang SC"/>
              </a:rPr>
              <a:t>CampusTrade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"/>
            <a:ext cx="8046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D222B"/>
                </a:solidFill>
                <a:latin typeface="PingFang SC"/>
              </a:rPr>
              <a:t>收束：核心价值在链路完整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33856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06977"/>
                </a:solidFill>
                <a:latin typeface="PingFang SC"/>
              </a:rPr>
              <a:t>结束页不要再重复所有技术名词，回到三个答辩结论。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4114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1">
                <a:solidFill>
                  <a:srgbClr val="1F8881"/>
                </a:solidFill>
                <a:latin typeface="PingFang SC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28800"/>
            <a:ext cx="3246120" cy="141732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1" y="1993392"/>
            <a:ext cx="384048" cy="384048"/>
          </a:xfrm>
          <a:prstGeom prst="ellipse">
            <a:avLst/>
          </a:prstGeom>
          <a:solidFill>
            <a:srgbClr val="1F8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04825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002536"/>
            <a:ext cx="238658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链路完整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450592"/>
            <a:ext cx="2807208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从浏览器到网关、业务服务、数据库、中间件，每一步都有真实请求和数据流。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828800"/>
            <a:ext cx="3246120" cy="141732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993392"/>
            <a:ext cx="384048" cy="384048"/>
          </a:xfrm>
          <a:prstGeom prst="ellipse">
            <a:avLst/>
          </a:prstGeom>
          <a:solidFill>
            <a:srgbClr val="26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04825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002536"/>
            <a:ext cx="238658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边界清晰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450592"/>
            <a:ext cx="2807208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服务拆分后不跨库直接访问；身份由网关注入；前端只走 API 封装。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246120" cy="141732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1993392"/>
            <a:ext cx="384048" cy="384048"/>
          </a:xfrm>
          <a:prstGeom prst="ellipse">
            <a:avLst/>
          </a:prstGeom>
          <a:solidFill>
            <a:srgbClr val="3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04825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002536"/>
            <a:ext cx="238658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可验证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2450592"/>
            <a:ext cx="2807208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06977"/>
                </a:solidFill>
                <a:latin typeface="PingFang SC"/>
              </a:rPr>
              <a:t>测试、构建、接口方法约束、初始化脚本和部署文档都能复验。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950208"/>
            <a:ext cx="2377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D222B"/>
                </a:solidFill>
                <a:latin typeface="PingFang SC"/>
              </a:rPr>
              <a:t>如果只记住一句话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407408"/>
            <a:ext cx="996696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42B49"/>
                </a:solidFill>
                <a:latin typeface="PingFang SC"/>
              </a:rPr>
              <a:t>CampusTrade 不是把功能堆在一起，而是围绕“可信入口、清晰边界、失败补偿、自动门禁”把一个校园交易流程做成可演示、可解释、可验收的系统。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5879592"/>
            <a:ext cx="1143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600" b="1">
                <a:solidFill>
                  <a:srgbClr val="1F8881"/>
                </a:solidFill>
                <a:latin typeface="PingFang SC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CampusTrade 答辩材料</dc:title>
  <dc:subject>校园二手交易平台微服务答辩</dc:subject>
  <dc:creator>CampusTrade Team</dc:creator>
  <cp:keywords/>
  <dc:description>Project-specific defense deck.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